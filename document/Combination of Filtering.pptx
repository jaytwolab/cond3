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32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68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51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307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33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47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54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2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37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0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52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14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16D29-4CD0-4796-91E2-2E2123B3E6C6}" type="datetimeFigureOut">
              <a:rPr lang="en-US" altLang="ko-KR"/>
              <a:t>12/31/2016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97F39-0058-4F0A-9185-66616149A742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33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설명선: 아래쪽 화살표 1"/>
          <p:cNvSpPr/>
          <p:nvPr/>
        </p:nvSpPr>
        <p:spPr>
          <a:xfrm>
            <a:off x="163769" y="1625918"/>
            <a:ext cx="9564981" cy="3957662"/>
          </a:xfrm>
          <a:prstGeom prst="downArrowCallout">
            <a:avLst>
              <a:gd name="adj1" fmla="val 11481"/>
              <a:gd name="adj2" fmla="val 25000"/>
              <a:gd name="adj3" fmla="val 8227"/>
              <a:gd name="adj4" fmla="val 82724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113912" y="2114859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Operator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184360" y="2114859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f-ZA" altLang="ko-KR"/>
              <a:t>O</a:t>
            </a:r>
            <a:r>
              <a:rPr lang="x-none" altLang="ko-KR"/>
              <a:t>perand</a:t>
            </a: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254808" y="2114859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Value</a:t>
            </a: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75014" y="2109831"/>
            <a:ext cx="1527654" cy="6142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f-ZA" altLang="ko-KR"/>
              <a:t>C</a:t>
            </a:r>
            <a:r>
              <a:rPr lang="x-none" altLang="ko-KR"/>
              <a:t>ondition Number</a:t>
            </a: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635960" y="2786524"/>
            <a:ext cx="1462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/>
              <a:t>&lt;</a:t>
            </a:r>
            <a:endParaRPr lang="x-none" altLang="ko-KR" dirty="0"/>
          </a:p>
          <a:p>
            <a:pPr algn="l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749012" y="2031413"/>
            <a:ext cx="26719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Value Type (VT)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7030A0"/>
                </a:solidFill>
              </a:rPr>
              <a:t>uint64_t (number)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7030A0"/>
                </a:solidFill>
              </a:rPr>
              <a:t>Double (real number)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7030A0"/>
                </a:solidFill>
              </a:rPr>
              <a:t>std</a:t>
            </a:r>
            <a:r>
              <a:rPr lang="en-US" altLang="ko-KR" sz="1400" dirty="0">
                <a:solidFill>
                  <a:srgbClr val="7030A0"/>
                </a:solidFill>
              </a:rPr>
              <a:t>::string (string)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9151" y="2786524"/>
            <a:ext cx="1462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 dirty="0"/>
              <a:t>CN-1</a:t>
            </a:r>
          </a:p>
          <a:p>
            <a:pPr algn="l"/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4077626" y="5645228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Boolean value</a:t>
            </a: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712013" y="5516303"/>
            <a:ext cx="3402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x-none" altLang="ko-KR"/>
              <a:t>Not set (initial value)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af-ZA" altLang="ko-KR"/>
              <a:t>T</a:t>
            </a:r>
            <a:r>
              <a:rPr lang="x-none" altLang="ko-KR"/>
              <a:t>rue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x-none" altLang="ko-KR"/>
              <a:t>False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249599" y="2828554"/>
            <a:ext cx="1355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 dirty="0"/>
              <a:t>Latitude</a:t>
            </a:r>
            <a:endParaRPr lang="ko-KR" altLang="en-US" dirty="0"/>
          </a:p>
        </p:txBody>
      </p:sp>
      <p:graphicFrame>
        <p:nvGraphicFramePr>
          <p:cNvPr id="5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580509"/>
              </p:ext>
            </p:extLst>
          </p:nvPr>
        </p:nvGraphicFramePr>
        <p:xfrm>
          <a:off x="9794539" y="4831614"/>
          <a:ext cx="2182938" cy="1684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266">
                  <a:extLst>
                    <a:ext uri="{9D8B030D-6E8A-4147-A177-3AD203B41FA5}">
                      <a16:colId xmlns:a16="http://schemas.microsoft.com/office/drawing/2014/main" xmlns="" val="3082135983"/>
                    </a:ext>
                  </a:extLst>
                </a:gridCol>
                <a:gridCol w="918328">
                  <a:extLst>
                    <a:ext uri="{9D8B030D-6E8A-4147-A177-3AD203B41FA5}">
                      <a16:colId xmlns:a16="http://schemas.microsoft.com/office/drawing/2014/main" xmlns="" val="1516444990"/>
                    </a:ext>
                  </a:extLst>
                </a:gridCol>
                <a:gridCol w="898344">
                  <a:extLst>
                    <a:ext uri="{9D8B030D-6E8A-4147-A177-3AD203B41FA5}">
                      <a16:colId xmlns:a16="http://schemas.microsoft.com/office/drawing/2014/main" xmlns="" val="2888866809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/>
                        <a:t>Codition Number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altLang="ko-KR" sz="1200" dirty="0"/>
                        <a:t>Boolean 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15716032"/>
                  </a:ext>
                </a:extLst>
              </a:tr>
              <a:tr h="388757"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/>
                        <a:t>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/>
                        <a:t>CN-1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/>
                        <a:t>True</a:t>
                      </a:r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2804910"/>
                  </a:ext>
                </a:extLst>
              </a:tr>
              <a:tr h="388757"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/>
                        <a:t>2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/>
                        <a:t>CN-2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/>
                        <a:t>False</a:t>
                      </a:r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63721554"/>
                  </a:ext>
                </a:extLst>
              </a:tr>
              <a:tr h="388757"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/>
                        <a:t>3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 dirty="0"/>
                        <a:t>CN-3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 dirty="0"/>
                        <a:t>True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35004818"/>
                  </a:ext>
                </a:extLst>
              </a:tr>
            </a:tbl>
          </a:graphicData>
        </a:graphic>
      </p:graphicFrame>
      <p:graphicFrame>
        <p:nvGraphicFramePr>
          <p:cNvPr id="7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31150"/>
              </p:ext>
            </p:extLst>
          </p:nvPr>
        </p:nvGraphicFramePr>
        <p:xfrm>
          <a:off x="4499080" y="211950"/>
          <a:ext cx="3510954" cy="1123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92">
                  <a:extLst>
                    <a:ext uri="{9D8B030D-6E8A-4147-A177-3AD203B41FA5}">
                      <a16:colId xmlns:a16="http://schemas.microsoft.com/office/drawing/2014/main" xmlns="" val="3082135983"/>
                    </a:ext>
                  </a:extLst>
                </a:gridCol>
                <a:gridCol w="1024014">
                  <a:extLst>
                    <a:ext uri="{9D8B030D-6E8A-4147-A177-3AD203B41FA5}">
                      <a16:colId xmlns:a16="http://schemas.microsoft.com/office/drawing/2014/main" xmlns="" val="1516444990"/>
                    </a:ext>
                  </a:extLst>
                </a:gridCol>
                <a:gridCol w="1035824">
                  <a:extLst>
                    <a:ext uri="{9D8B030D-6E8A-4147-A177-3AD203B41FA5}">
                      <a16:colId xmlns:a16="http://schemas.microsoft.com/office/drawing/2014/main" xmlns="" val="2888866809"/>
                    </a:ext>
                  </a:extLst>
                </a:gridCol>
                <a:gridCol w="1035824">
                  <a:extLst>
                    <a:ext uri="{9D8B030D-6E8A-4147-A177-3AD203B41FA5}">
                      <a16:colId xmlns:a16="http://schemas.microsoft.com/office/drawing/2014/main" xmlns="" val="199888100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 dirty="0"/>
                        <a:t>Key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altLang="ko-KR" sz="1600" dirty="0"/>
                        <a:t>Value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Type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15716032"/>
                  </a:ext>
                </a:extLst>
              </a:tr>
              <a:tr h="452507"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/>
                        <a:t>1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/>
                        <a:t>Latitude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 dirty="0"/>
                        <a:t>37.8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double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28049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/>
                        <a:t>..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/>
                        <a:t>...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600" dirty="0"/>
                        <a:t>...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63721554"/>
                  </a:ext>
                </a:extLst>
              </a:tr>
            </a:tbl>
          </a:graphicData>
        </a:graphic>
      </p:graphicFrame>
      <p:sp>
        <p:nvSpPr>
          <p:cNvPr id="9" name="화살표: 아래쪽 8"/>
          <p:cNvSpPr/>
          <p:nvPr/>
        </p:nvSpPr>
        <p:spPr>
          <a:xfrm>
            <a:off x="4853374" y="1300294"/>
            <a:ext cx="458537" cy="71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아래쪽 21"/>
          <p:cNvSpPr/>
          <p:nvPr/>
        </p:nvSpPr>
        <p:spPr>
          <a:xfrm>
            <a:off x="6254558" y="1310558"/>
            <a:ext cx="458537" cy="71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819097" y="2818658"/>
            <a:ext cx="121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/>
              <a:t>42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45059" y="4290918"/>
            <a:ext cx="4618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If ( Latitude(37.8) is less than 42 ) then, 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847959" y="3249844"/>
            <a:ext cx="1799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solidFill>
                  <a:srgbClr val="7030A0"/>
                </a:solidFill>
              </a:rPr>
              <a:t>== (is equal)</a:t>
            </a:r>
          </a:p>
          <a:p>
            <a:pPr algn="l"/>
            <a:r>
              <a:rPr lang="en-US" altLang="ko-KR" sz="1600" dirty="0">
                <a:solidFill>
                  <a:srgbClr val="7030A0"/>
                </a:solidFill>
              </a:rPr>
              <a:t>&gt; (greater than)</a:t>
            </a:r>
          </a:p>
          <a:p>
            <a:pPr algn="l"/>
            <a:r>
              <a:rPr lang="en-US" altLang="ko-KR" sz="1600" dirty="0">
                <a:solidFill>
                  <a:srgbClr val="7030A0"/>
                </a:solidFill>
              </a:rPr>
              <a:t>&gt;=</a:t>
            </a:r>
          </a:p>
          <a:p>
            <a:pPr algn="l"/>
            <a:r>
              <a:rPr lang="en-US" altLang="ko-KR" sz="1600" dirty="0">
                <a:solidFill>
                  <a:srgbClr val="7030A0"/>
                </a:solidFill>
              </a:rPr>
              <a:t>&lt; (less than)</a:t>
            </a:r>
          </a:p>
          <a:p>
            <a:pPr algn="l"/>
            <a:r>
              <a:rPr lang="en-US" altLang="ko-KR" sz="1600" dirty="0">
                <a:solidFill>
                  <a:srgbClr val="7030A0"/>
                </a:solidFill>
              </a:rPr>
              <a:t>&lt;=</a:t>
            </a:r>
            <a:endParaRPr lang="x-none" altLang="ko-KR" sz="1600" dirty="0">
              <a:solidFill>
                <a:srgbClr val="7030A0"/>
              </a:solidFill>
            </a:endParaRPr>
          </a:p>
          <a:p>
            <a:pPr algn="l"/>
            <a:endParaRPr lang="ko-KR" altLang="en-US" sz="1600" dirty="0">
              <a:solidFill>
                <a:srgbClr val="7030A0"/>
              </a:solidFill>
            </a:endParaRPr>
          </a:p>
        </p:txBody>
      </p:sp>
      <p:sp>
        <p:nvSpPr>
          <p:cNvPr id="13" name="사각형: 둥근 모서리 12"/>
          <p:cNvSpPr/>
          <p:nvPr/>
        </p:nvSpPr>
        <p:spPr>
          <a:xfrm>
            <a:off x="2270902" y="2801163"/>
            <a:ext cx="7326885" cy="457706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4001350" y="3209153"/>
            <a:ext cx="1350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>
                    <a:lumMod val="50000"/>
                  </a:schemeClr>
                </a:solidFill>
              </a:rPr>
              <a:t>condition</a:t>
            </a:r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8162937" y="2114859"/>
            <a:ext cx="1434850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Type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8552356" y="2828554"/>
            <a:ext cx="121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/>
              <a:t>double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803301" y="3202896"/>
            <a:ext cx="2861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solidFill>
                  <a:srgbClr val="FF0000"/>
                </a:solidFill>
              </a:rPr>
              <a:t>Condition Expression (CE)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36485" y="452277"/>
            <a:ext cx="2405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Subject of comparison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(SOC)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6114" y="1637112"/>
            <a:ext cx="2405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Condition (COND)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99079" y="4000017"/>
            <a:ext cx="4999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rgbClr val="FF0000"/>
                </a:solidFill>
              </a:rPr>
              <a:t>valueSOC</a:t>
            </a:r>
            <a:r>
              <a:rPr lang="en-US" altLang="ko-KR" sz="1600" dirty="0">
                <a:solidFill>
                  <a:srgbClr val="FF0000"/>
                </a:solidFill>
              </a:rPr>
              <a:t>         Operator   </a:t>
            </a:r>
            <a:r>
              <a:rPr lang="en-US" altLang="ko-KR" sz="1600" dirty="0" err="1">
                <a:solidFill>
                  <a:srgbClr val="FF0000"/>
                </a:solidFill>
              </a:rPr>
              <a:t>valueCE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25584" y="4532969"/>
            <a:ext cx="2673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</a:rPr>
              <a:t>If ( 37.8 &lt; 42 ) then</a:t>
            </a:r>
            <a:endParaRPr lang="ko-KR" altLang="en-US" sz="1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648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설명선: 아래쪽 화살표 5"/>
          <p:cNvSpPr/>
          <p:nvPr/>
        </p:nvSpPr>
        <p:spPr>
          <a:xfrm>
            <a:off x="2764465" y="2278623"/>
            <a:ext cx="8677411" cy="3491828"/>
          </a:xfrm>
          <a:prstGeom prst="downArrowCallout">
            <a:avLst>
              <a:gd name="adj1" fmla="val 21163"/>
              <a:gd name="adj2" fmla="val 25000"/>
              <a:gd name="adj3" fmla="val 8227"/>
              <a:gd name="adj4" fmla="val 84904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2014179" y="615287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Condition Number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217989" y="1278185"/>
            <a:ext cx="1462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/>
              <a:t>CN-1</a:t>
            </a:r>
          </a:p>
          <a:p>
            <a:pPr algn="l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047310" y="624622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Boolean value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177790" y="1252089"/>
            <a:ext cx="146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af-ZA" altLang="ko-KR"/>
              <a:t>T</a:t>
            </a:r>
            <a:r>
              <a:rPr lang="x-none" altLang="ko-KR"/>
              <a:t>rue</a:t>
            </a: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617366" y="576359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Cpndition Number</a:t>
            </a: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821176" y="1239257"/>
            <a:ext cx="1462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/>
              <a:t>CN-2</a:t>
            </a:r>
          </a:p>
          <a:p>
            <a:pPr algn="l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8577166" y="576359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Boolean value</a:t>
            </a: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707646" y="1203826"/>
            <a:ext cx="146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/>
              <a:t>False</a:t>
            </a:r>
            <a:endParaRPr lang="ko-KR" altLang="en-US"/>
          </a:p>
        </p:txBody>
      </p:sp>
      <p:sp>
        <p:nvSpPr>
          <p:cNvPr id="19" name="사각형: 둥근 모서리 18"/>
          <p:cNvSpPr/>
          <p:nvPr/>
        </p:nvSpPr>
        <p:spPr>
          <a:xfrm>
            <a:off x="1707030" y="431971"/>
            <a:ext cx="4248672" cy="1189450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/>
          <p:cNvSpPr/>
          <p:nvPr/>
        </p:nvSpPr>
        <p:spPr>
          <a:xfrm>
            <a:off x="6302126" y="431971"/>
            <a:ext cx="4248672" cy="1189450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758368" y="3986543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Condition Number #1</a:t>
            </a: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758473" y="4578520"/>
            <a:ext cx="1971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 sz="1400" dirty="0"/>
              <a:t>Boolean Value</a:t>
            </a:r>
          </a:p>
          <a:p>
            <a:pPr algn="l"/>
            <a:r>
              <a:rPr lang="x-none" altLang="ko-KR" sz="1400" dirty="0"/>
              <a:t>  : True</a:t>
            </a:r>
            <a:endParaRPr lang="ko-KR" altLang="en-US" sz="1400" dirty="0"/>
          </a:p>
        </p:txBody>
      </p:sp>
      <p:sp>
        <p:nvSpPr>
          <p:cNvPr id="27" name="직사각형 26"/>
          <p:cNvSpPr/>
          <p:nvPr/>
        </p:nvSpPr>
        <p:spPr>
          <a:xfrm>
            <a:off x="9490944" y="3964222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Condition Number #2</a:t>
            </a: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9470851" y="4578520"/>
            <a:ext cx="1971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 sz="1400" dirty="0"/>
              <a:t>Boolean Value</a:t>
            </a:r>
          </a:p>
          <a:p>
            <a:pPr algn="l"/>
            <a:r>
              <a:rPr lang="x-none" altLang="ko-KR" sz="1400" dirty="0"/>
              <a:t>  : False</a:t>
            </a:r>
            <a:endParaRPr lang="ko-KR" altLang="en-US" sz="1400" dirty="0"/>
          </a:p>
        </p:txBody>
      </p:sp>
      <p:sp>
        <p:nvSpPr>
          <p:cNvPr id="31" name="직사각형 30"/>
          <p:cNvSpPr/>
          <p:nvPr/>
        </p:nvSpPr>
        <p:spPr>
          <a:xfrm>
            <a:off x="7813339" y="2821139"/>
            <a:ext cx="1527654" cy="6142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 sz="1400"/>
              <a:t>Boolean</a:t>
            </a:r>
          </a:p>
          <a:p>
            <a:pPr algn="ctr"/>
            <a:r>
              <a:rPr lang="x-none" altLang="ko-KR" sz="1400"/>
              <a:t>Operator</a:t>
            </a:r>
            <a:endParaRPr lang="ko-KR" altLang="en-US" sz="1400"/>
          </a:p>
        </p:txBody>
      </p:sp>
      <p:sp>
        <p:nvSpPr>
          <p:cNvPr id="35" name="TextBox 34"/>
          <p:cNvSpPr txBox="1"/>
          <p:nvPr/>
        </p:nvSpPr>
        <p:spPr>
          <a:xfrm>
            <a:off x="8194399" y="3420212"/>
            <a:ext cx="90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ko-KR" dirty="0"/>
              <a:t>And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371705" y="5783577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Boolean value</a:t>
            </a:r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818602" y="6411001"/>
            <a:ext cx="940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 dirty="0"/>
              <a:t>False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3537028" y="2821139"/>
            <a:ext cx="1783981" cy="6142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 sz="1400"/>
              <a:t>Boolean</a:t>
            </a:r>
          </a:p>
          <a:p>
            <a:pPr algn="ctr"/>
            <a:r>
              <a:rPr lang="x-none" altLang="ko-KR" sz="1400"/>
              <a:t>Expression Number</a:t>
            </a:r>
            <a:endParaRPr lang="ko-KR" altLang="en-US" sz="1400"/>
          </a:p>
        </p:txBody>
      </p:sp>
      <p:sp>
        <p:nvSpPr>
          <p:cNvPr id="4" name="TextBox 3"/>
          <p:cNvSpPr txBox="1"/>
          <p:nvPr/>
        </p:nvSpPr>
        <p:spPr>
          <a:xfrm>
            <a:off x="4034399" y="3406342"/>
            <a:ext cx="1462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 dirty="0"/>
              <a:t>BEN-1</a:t>
            </a:r>
          </a:p>
          <a:p>
            <a:pPr algn="l"/>
            <a:endParaRPr lang="ko-KR" altLang="en-US" dirty="0"/>
          </a:p>
        </p:txBody>
      </p:sp>
      <p:graphicFrame>
        <p:nvGraphicFramePr>
          <p:cNvPr id="8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126074"/>
              </p:ext>
            </p:extLst>
          </p:nvPr>
        </p:nvGraphicFramePr>
        <p:xfrm>
          <a:off x="306175" y="3041675"/>
          <a:ext cx="22546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303">
                  <a:extLst>
                    <a:ext uri="{9D8B030D-6E8A-4147-A177-3AD203B41FA5}">
                      <a16:colId xmlns:a16="http://schemas.microsoft.com/office/drawing/2014/main" xmlns="" val="3082135983"/>
                    </a:ext>
                  </a:extLst>
                </a:gridCol>
                <a:gridCol w="1080434">
                  <a:extLst>
                    <a:ext uri="{9D8B030D-6E8A-4147-A177-3AD203B41FA5}">
                      <a16:colId xmlns:a16="http://schemas.microsoft.com/office/drawing/2014/main" xmlns="" val="1516444990"/>
                    </a:ext>
                  </a:extLst>
                </a:gridCol>
                <a:gridCol w="795940">
                  <a:extLst>
                    <a:ext uri="{9D8B030D-6E8A-4147-A177-3AD203B41FA5}">
                      <a16:colId xmlns:a16="http://schemas.microsoft.com/office/drawing/2014/main" xmlns="" val="2888866809"/>
                    </a:ext>
                  </a:extLst>
                </a:gridCol>
              </a:tblGrid>
              <a:tr h="449492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/>
                        <a:t>Sequence of Boolean Expression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af-ZA" altLang="ko-KR" sz="1200" dirty="0"/>
                        <a:t>I</a:t>
                      </a:r>
                      <a:r>
                        <a:rPr lang="x-none" altLang="ko-KR" sz="1200" dirty="0"/>
                        <a:t>s final value?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15716032"/>
                  </a:ext>
                </a:extLst>
              </a:tr>
              <a:tr h="150870"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/>
                        <a:t>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/>
                        <a:t>BEN-1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af-ZA" altLang="ko-KR" sz="1200" dirty="0"/>
                        <a:t>N</a:t>
                      </a:r>
                      <a:r>
                        <a:rPr lang="x-none" altLang="ko-KR" sz="1200" dirty="0"/>
                        <a:t>o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2804910"/>
                  </a:ext>
                </a:extLst>
              </a:tr>
              <a:tr h="150870"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/>
                        <a:t>2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/>
                        <a:t>BEN-2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 dirty="0"/>
                        <a:t>yes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63721554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764465" y="2318719"/>
            <a:ext cx="2405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rgbClr val="FF0000"/>
                </a:solidFill>
              </a:rPr>
              <a:t>BooleanCondition</a:t>
            </a:r>
            <a:r>
              <a:rPr lang="en-US" altLang="ko-KR" sz="1600" dirty="0">
                <a:solidFill>
                  <a:srgbClr val="FF0000"/>
                </a:solidFill>
              </a:rPr>
              <a:t> (BC)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5571" y="2687133"/>
            <a:ext cx="1304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list of BC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0" name="사각형: 둥근 모서리 9"/>
          <p:cNvSpPr/>
          <p:nvPr/>
        </p:nvSpPr>
        <p:spPr>
          <a:xfrm>
            <a:off x="3287575" y="2755954"/>
            <a:ext cx="6483071" cy="1029038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758368" y="2788143"/>
            <a:ext cx="13625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Condition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18217" y="4127603"/>
            <a:ext cx="1269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solidFill>
                  <a:srgbClr val="FF0000"/>
                </a:solidFill>
              </a:rPr>
              <a:t>First value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84186" y="4139803"/>
            <a:ext cx="1269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solidFill>
                  <a:srgbClr val="FF0000"/>
                </a:solidFill>
              </a:rPr>
              <a:t>Second value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01292" y="4442194"/>
            <a:ext cx="2310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AutoNum type="arabicParenR"/>
            </a:pPr>
            <a:r>
              <a:rPr lang="en-US" altLang="ko-KR" sz="1200" dirty="0">
                <a:solidFill>
                  <a:srgbClr val="FF0000"/>
                </a:solidFill>
              </a:rPr>
              <a:t>Value type</a:t>
            </a:r>
          </a:p>
          <a:p>
            <a:pPr marL="800100" lvl="1" indent="-342900">
              <a:buAutoNum type="arabicParenR"/>
            </a:pPr>
            <a:r>
              <a:rPr lang="en-US" altLang="ko-KR" sz="1200" dirty="0">
                <a:solidFill>
                  <a:srgbClr val="FF0000"/>
                </a:solidFill>
              </a:rPr>
              <a:t>COND</a:t>
            </a:r>
          </a:p>
          <a:p>
            <a:pPr marL="800100" lvl="1" indent="-342900">
              <a:buAutoNum type="arabicParenR"/>
            </a:pPr>
            <a:r>
              <a:rPr lang="en-US" altLang="ko-KR" sz="1200" dirty="0">
                <a:solidFill>
                  <a:srgbClr val="FF0000"/>
                </a:solidFill>
              </a:rPr>
              <a:t>BC</a:t>
            </a:r>
          </a:p>
          <a:p>
            <a:pPr marL="342900" indent="-342900">
              <a:buAutoNum type="arabicParenR"/>
            </a:pPr>
            <a:r>
              <a:rPr lang="en-US" altLang="ko-KR" sz="1200" dirty="0">
                <a:solidFill>
                  <a:srgbClr val="FF0000"/>
                </a:solidFill>
              </a:rPr>
              <a:t>Number of COND/BC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85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7764748" y="2265923"/>
            <a:ext cx="1527654" cy="5547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 sz="1400"/>
              <a:t>Boolean</a:t>
            </a:r>
          </a:p>
          <a:p>
            <a:pPr algn="ctr"/>
            <a:r>
              <a:rPr lang="x-none" altLang="ko-KR" sz="1400"/>
              <a:t>Operator</a:t>
            </a:r>
            <a:endParaRPr lang="ko-KR" altLang="en-US" sz="1400"/>
          </a:p>
        </p:txBody>
      </p:sp>
      <p:sp>
        <p:nvSpPr>
          <p:cNvPr id="26" name="TextBox 25"/>
          <p:cNvSpPr txBox="1"/>
          <p:nvPr/>
        </p:nvSpPr>
        <p:spPr>
          <a:xfrm>
            <a:off x="8215228" y="2797329"/>
            <a:ext cx="769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ko-KR" dirty="0"/>
              <a:t>Or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8542097" y="5562084"/>
            <a:ext cx="146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/>
              <a:t>True</a:t>
            </a:r>
            <a:endParaRPr lang="ko-KR" altLang="en-US"/>
          </a:p>
        </p:txBody>
      </p:sp>
      <p:sp>
        <p:nvSpPr>
          <p:cNvPr id="35" name="설명선: 아래쪽 화살표 34"/>
          <p:cNvSpPr/>
          <p:nvPr/>
        </p:nvSpPr>
        <p:spPr>
          <a:xfrm>
            <a:off x="2949677" y="1815014"/>
            <a:ext cx="9045836" cy="3552688"/>
          </a:xfrm>
          <a:prstGeom prst="downArrowCallout">
            <a:avLst>
              <a:gd name="adj1" fmla="val 10402"/>
              <a:gd name="adj2" fmla="val 14556"/>
              <a:gd name="adj3" fmla="val 9161"/>
              <a:gd name="adj4" fmla="val 84097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5343759" y="3475384"/>
            <a:ext cx="2106076" cy="7706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 sz="1400"/>
              <a:t>Boolean</a:t>
            </a:r>
          </a:p>
          <a:p>
            <a:pPr algn="ctr"/>
            <a:r>
              <a:rPr lang="x-none" altLang="ko-KR" sz="1400"/>
              <a:t>Expression Number : BEN-1</a:t>
            </a:r>
            <a:endParaRPr lang="ko-KR" altLang="en-US" sz="1400"/>
          </a:p>
        </p:txBody>
      </p:sp>
      <p:sp>
        <p:nvSpPr>
          <p:cNvPr id="39" name="TextBox 38"/>
          <p:cNvSpPr txBox="1"/>
          <p:nvPr/>
        </p:nvSpPr>
        <p:spPr>
          <a:xfrm>
            <a:off x="6045606" y="4229611"/>
            <a:ext cx="146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 dirty="0"/>
              <a:t>False</a:t>
            </a:r>
            <a:endParaRPr lang="ko-KR" altLang="en-US" dirty="0"/>
          </a:p>
        </p:txBody>
      </p:sp>
      <p:sp>
        <p:nvSpPr>
          <p:cNvPr id="41" name="직사각형 40"/>
          <p:cNvSpPr/>
          <p:nvPr/>
        </p:nvSpPr>
        <p:spPr>
          <a:xfrm>
            <a:off x="9434353" y="3475384"/>
            <a:ext cx="2106076" cy="7706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 sz="1400"/>
              <a:t>Condition Number : CN-3</a:t>
            </a:r>
            <a:endParaRPr lang="ko-KR" altLang="en-US" sz="1400"/>
          </a:p>
        </p:txBody>
      </p:sp>
      <p:sp>
        <p:nvSpPr>
          <p:cNvPr id="43" name="TextBox 42"/>
          <p:cNvSpPr txBox="1"/>
          <p:nvPr/>
        </p:nvSpPr>
        <p:spPr>
          <a:xfrm>
            <a:off x="10215919" y="4229611"/>
            <a:ext cx="146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 dirty="0"/>
              <a:t>True</a:t>
            </a:r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164525" y="2265923"/>
            <a:ext cx="2106076" cy="5547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 sz="1400"/>
              <a:t>Boolean</a:t>
            </a:r>
          </a:p>
          <a:p>
            <a:pPr algn="ctr"/>
            <a:r>
              <a:rPr lang="x-none" altLang="ko-KR" sz="1400"/>
              <a:t>Expression Number</a:t>
            </a:r>
            <a:endParaRPr lang="ko-KR" altLang="en-US" sz="1400"/>
          </a:p>
        </p:txBody>
      </p:sp>
      <p:sp>
        <p:nvSpPr>
          <p:cNvPr id="49" name="TextBox 48"/>
          <p:cNvSpPr txBox="1"/>
          <p:nvPr/>
        </p:nvSpPr>
        <p:spPr>
          <a:xfrm>
            <a:off x="3798220" y="2797329"/>
            <a:ext cx="838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ko-KR" dirty="0"/>
              <a:t>#2</a:t>
            </a:r>
            <a:endParaRPr lang="ko-KR" altLang="en-US" dirty="0"/>
          </a:p>
        </p:txBody>
      </p:sp>
      <p:sp>
        <p:nvSpPr>
          <p:cNvPr id="51" name="직사각형 50"/>
          <p:cNvSpPr/>
          <p:nvPr/>
        </p:nvSpPr>
        <p:spPr>
          <a:xfrm>
            <a:off x="5047145" y="479648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Condition  Number</a:t>
            </a:r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5250955" y="1090354"/>
            <a:ext cx="1462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/>
              <a:t>CN-3</a:t>
            </a:r>
          </a:p>
          <a:p>
            <a:pPr algn="l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7006945" y="479648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Return value</a:t>
            </a:r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7137425" y="1107115"/>
            <a:ext cx="146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/>
              <a:t>True</a:t>
            </a:r>
            <a:endParaRPr lang="ko-KR" altLang="en-US"/>
          </a:p>
        </p:txBody>
      </p:sp>
      <p:sp>
        <p:nvSpPr>
          <p:cNvPr id="59" name="사각형: 둥근 모서리 58"/>
          <p:cNvSpPr/>
          <p:nvPr/>
        </p:nvSpPr>
        <p:spPr>
          <a:xfrm>
            <a:off x="4731905" y="335260"/>
            <a:ext cx="4248672" cy="1189450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6856241" y="5446031"/>
            <a:ext cx="1527654" cy="6142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x-none" altLang="ko-KR"/>
              <a:t>Boolean value</a:t>
            </a:r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6983007" y="6138658"/>
            <a:ext cx="1462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x-none" altLang="ko-KR" dirty="0">
                <a:solidFill>
                  <a:srgbClr val="FF0000"/>
                </a:solidFill>
              </a:rPr>
              <a:t>(Final Value)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67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671439"/>
              </p:ext>
            </p:extLst>
          </p:nvPr>
        </p:nvGraphicFramePr>
        <p:xfrm>
          <a:off x="122957" y="2660714"/>
          <a:ext cx="2688816" cy="1389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46">
                  <a:extLst>
                    <a:ext uri="{9D8B030D-6E8A-4147-A177-3AD203B41FA5}">
                      <a16:colId xmlns:a16="http://schemas.microsoft.com/office/drawing/2014/main" xmlns="" val="3082135983"/>
                    </a:ext>
                  </a:extLst>
                </a:gridCol>
                <a:gridCol w="1219071">
                  <a:extLst>
                    <a:ext uri="{9D8B030D-6E8A-4147-A177-3AD203B41FA5}">
                      <a16:colId xmlns:a16="http://schemas.microsoft.com/office/drawing/2014/main" xmlns="" val="1516444990"/>
                    </a:ext>
                  </a:extLst>
                </a:gridCol>
                <a:gridCol w="1018599">
                  <a:extLst>
                    <a:ext uri="{9D8B030D-6E8A-4147-A177-3AD203B41FA5}">
                      <a16:colId xmlns:a16="http://schemas.microsoft.com/office/drawing/2014/main" xmlns="" val="2888866809"/>
                    </a:ext>
                  </a:extLst>
                </a:gridCol>
              </a:tblGrid>
              <a:tr h="65750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sz="1200" dirty="0"/>
                        <a:t>Sequence of Boolean Expression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af-ZA" altLang="ko-KR" sz="1400" dirty="0"/>
                        <a:t>I</a:t>
                      </a:r>
                      <a:r>
                        <a:rPr lang="x-none" altLang="ko-KR" sz="1400" dirty="0"/>
                        <a:t>s final value?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15716032"/>
                  </a:ext>
                </a:extLst>
              </a:tr>
              <a:tr h="220689"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/>
                        <a:t>BEN-1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af-ZA" altLang="ko-KR"/>
                        <a:t>N</a:t>
                      </a:r>
                      <a:r>
                        <a:rPr lang="x-none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2804910"/>
                  </a:ext>
                </a:extLst>
              </a:tr>
              <a:tr h="220689"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/>
                        <a:t>BEN-2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x-none" altLang="ko-KR" dirty="0"/>
                        <a:t>yes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6372155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949677" y="1849040"/>
            <a:ext cx="2405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rgbClr val="FF0000"/>
                </a:solidFill>
              </a:rPr>
              <a:t>BooleanCondition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21" name="사각형: 둥근 모서리 9"/>
          <p:cNvSpPr/>
          <p:nvPr/>
        </p:nvSpPr>
        <p:spPr>
          <a:xfrm>
            <a:off x="3040083" y="2187594"/>
            <a:ext cx="6607513" cy="97906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751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/>
          <p:cNvSpPr/>
          <p:nvPr/>
        </p:nvSpPr>
        <p:spPr>
          <a:xfrm>
            <a:off x="2635084" y="941695"/>
            <a:ext cx="2117220" cy="16521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십이각형 1"/>
          <p:cNvSpPr/>
          <p:nvPr/>
        </p:nvSpPr>
        <p:spPr>
          <a:xfrm>
            <a:off x="2750508" y="1146412"/>
            <a:ext cx="504967" cy="464023"/>
          </a:xfrm>
          <a:prstGeom prst="dodecag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" name="십이각형 2"/>
          <p:cNvSpPr/>
          <p:nvPr/>
        </p:nvSpPr>
        <p:spPr>
          <a:xfrm>
            <a:off x="4172150" y="1146412"/>
            <a:ext cx="504967" cy="464023"/>
          </a:xfrm>
          <a:prstGeom prst="dodecag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" name="십이각형 3"/>
          <p:cNvSpPr/>
          <p:nvPr/>
        </p:nvSpPr>
        <p:spPr>
          <a:xfrm>
            <a:off x="3448818" y="1836742"/>
            <a:ext cx="504967" cy="464023"/>
          </a:xfrm>
          <a:prstGeom prst="dodecagon">
            <a:avLst/>
          </a:prstGeom>
          <a:solidFill>
            <a:srgbClr val="CCFF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 smtClean="0"/>
              <a:t>AND</a:t>
            </a:r>
            <a:endParaRPr lang="ko-KR" altLang="en-US" sz="1000" dirty="0"/>
          </a:p>
        </p:txBody>
      </p:sp>
      <p:cxnSp>
        <p:nvCxnSpPr>
          <p:cNvPr id="6" name="직선 연결선 5"/>
          <p:cNvCxnSpPr>
            <a:stCxn id="2" idx="4"/>
            <a:endCxn id="4" idx="9"/>
          </p:cNvCxnSpPr>
          <p:nvPr/>
        </p:nvCxnSpPr>
        <p:spPr>
          <a:xfrm>
            <a:off x="3070648" y="1610435"/>
            <a:ext cx="445826" cy="288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>
            <a:stCxn id="3" idx="5"/>
            <a:endCxn id="4" idx="0"/>
          </p:cNvCxnSpPr>
          <p:nvPr/>
        </p:nvCxnSpPr>
        <p:spPr>
          <a:xfrm flipH="1">
            <a:off x="3886129" y="1610435"/>
            <a:ext cx="470848" cy="2884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64" idx="3"/>
            <a:endCxn id="16" idx="9"/>
          </p:cNvCxnSpPr>
          <p:nvPr/>
        </p:nvCxnSpPr>
        <p:spPr>
          <a:xfrm>
            <a:off x="4312881" y="2871857"/>
            <a:ext cx="312905" cy="288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십이각형 15"/>
          <p:cNvSpPr/>
          <p:nvPr/>
        </p:nvSpPr>
        <p:spPr>
          <a:xfrm>
            <a:off x="4558130" y="3098512"/>
            <a:ext cx="504967" cy="464023"/>
          </a:xfrm>
          <a:prstGeom prst="dodecagon">
            <a:avLst/>
          </a:prstGeom>
          <a:solidFill>
            <a:srgbClr val="CCFF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 smtClean="0"/>
              <a:t>OR</a:t>
            </a:r>
            <a:endParaRPr lang="ko-KR" altLang="en-US" sz="1000" dirty="0"/>
          </a:p>
        </p:txBody>
      </p:sp>
      <p:sp>
        <p:nvSpPr>
          <p:cNvPr id="18" name="십이각형 17"/>
          <p:cNvSpPr/>
          <p:nvPr/>
        </p:nvSpPr>
        <p:spPr>
          <a:xfrm>
            <a:off x="5339733" y="2739417"/>
            <a:ext cx="504967" cy="464023"/>
          </a:xfrm>
          <a:prstGeom prst="dodecag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9" name="직선 연결선 18"/>
          <p:cNvCxnSpPr>
            <a:stCxn id="18" idx="6"/>
            <a:endCxn id="16" idx="1"/>
          </p:cNvCxnSpPr>
          <p:nvPr/>
        </p:nvCxnSpPr>
        <p:spPr>
          <a:xfrm flipH="1">
            <a:off x="5063097" y="3141270"/>
            <a:ext cx="344292" cy="127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십이각형 22"/>
          <p:cNvSpPr/>
          <p:nvPr/>
        </p:nvSpPr>
        <p:spPr>
          <a:xfrm>
            <a:off x="5619094" y="4413343"/>
            <a:ext cx="504967" cy="464023"/>
          </a:xfrm>
          <a:prstGeom prst="dodecagon">
            <a:avLst/>
          </a:prstGeom>
          <a:solidFill>
            <a:srgbClr val="CCFF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 smtClean="0"/>
              <a:t>AND</a:t>
            </a:r>
            <a:endParaRPr lang="ko-KR" altLang="en-US" sz="1000" dirty="0"/>
          </a:p>
        </p:txBody>
      </p:sp>
      <p:cxnSp>
        <p:nvCxnSpPr>
          <p:cNvPr id="24" name="직선 연결선 23"/>
          <p:cNvCxnSpPr>
            <a:stCxn id="81" idx="9"/>
            <a:endCxn id="16" idx="4"/>
          </p:cNvCxnSpPr>
          <p:nvPr/>
        </p:nvCxnSpPr>
        <p:spPr>
          <a:xfrm flipH="1" flipV="1">
            <a:off x="4878270" y="3562535"/>
            <a:ext cx="228738" cy="2411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십이각형 26"/>
          <p:cNvSpPr/>
          <p:nvPr/>
        </p:nvSpPr>
        <p:spPr>
          <a:xfrm>
            <a:off x="7282709" y="3234525"/>
            <a:ext cx="504967" cy="464023"/>
          </a:xfrm>
          <a:prstGeom prst="dodecagon">
            <a:avLst/>
          </a:prstGeom>
          <a:solidFill>
            <a:srgbClr val="CCFF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 smtClean="0"/>
              <a:t>OR</a:t>
            </a:r>
            <a:endParaRPr lang="ko-KR" altLang="en-US" sz="1000" dirty="0"/>
          </a:p>
        </p:txBody>
      </p:sp>
      <p:sp>
        <p:nvSpPr>
          <p:cNvPr id="28" name="십이각형 27"/>
          <p:cNvSpPr/>
          <p:nvPr/>
        </p:nvSpPr>
        <p:spPr>
          <a:xfrm>
            <a:off x="6664561" y="2582454"/>
            <a:ext cx="504967" cy="464023"/>
          </a:xfrm>
          <a:prstGeom prst="dodecag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29" name="십이각형 28"/>
          <p:cNvSpPr/>
          <p:nvPr/>
        </p:nvSpPr>
        <p:spPr>
          <a:xfrm>
            <a:off x="7974748" y="2582454"/>
            <a:ext cx="504967" cy="464023"/>
          </a:xfrm>
          <a:prstGeom prst="dodecag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cxnSp>
        <p:nvCxnSpPr>
          <p:cNvPr id="30" name="직선 연결선 29"/>
          <p:cNvCxnSpPr>
            <a:stCxn id="87" idx="6"/>
            <a:endCxn id="23" idx="1"/>
          </p:cNvCxnSpPr>
          <p:nvPr/>
        </p:nvCxnSpPr>
        <p:spPr>
          <a:xfrm flipH="1">
            <a:off x="6124061" y="4295542"/>
            <a:ext cx="515021" cy="2876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29" idx="6"/>
            <a:endCxn id="27" idx="0"/>
          </p:cNvCxnSpPr>
          <p:nvPr/>
        </p:nvCxnSpPr>
        <p:spPr>
          <a:xfrm flipH="1">
            <a:off x="7720020" y="2984307"/>
            <a:ext cx="322384" cy="312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>
            <a:stCxn id="28" idx="4"/>
            <a:endCxn id="27" idx="9"/>
          </p:cNvCxnSpPr>
          <p:nvPr/>
        </p:nvCxnSpPr>
        <p:spPr>
          <a:xfrm>
            <a:off x="6984701" y="3046477"/>
            <a:ext cx="365664" cy="250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아래쪽 화살표 41"/>
          <p:cNvSpPr/>
          <p:nvPr/>
        </p:nvSpPr>
        <p:spPr>
          <a:xfrm>
            <a:off x="5641539" y="4944160"/>
            <a:ext cx="437311" cy="765391"/>
          </a:xfrm>
          <a:prstGeom prst="downArrow">
            <a:avLst>
              <a:gd name="adj1" fmla="val 3822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4567066" y="5713223"/>
            <a:ext cx="304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FF0000"/>
                </a:solidFill>
              </a:rPr>
              <a:t>Final answer of all condition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953785" y="2687474"/>
            <a:ext cx="2027276" cy="1243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6571426" y="2470003"/>
            <a:ext cx="1963466" cy="15313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4956596" y="4192141"/>
            <a:ext cx="2027276" cy="9310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2643598" y="2300765"/>
            <a:ext cx="907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FF0000"/>
                </a:solidFill>
              </a:rPr>
              <a:t>BC #1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903339" y="3656451"/>
            <a:ext cx="907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FF0000"/>
                </a:solidFill>
              </a:rPr>
              <a:t>BC #2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854076" y="3702878"/>
            <a:ext cx="907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FF0000"/>
                </a:solidFill>
              </a:rPr>
              <a:t>BC #3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886095" y="4865938"/>
            <a:ext cx="907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FF0000"/>
                </a:solidFill>
              </a:rPr>
              <a:t>BC #4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64" name="십이각형 63"/>
          <p:cNvSpPr/>
          <p:nvPr/>
        </p:nvSpPr>
        <p:spPr>
          <a:xfrm>
            <a:off x="3875570" y="2470004"/>
            <a:ext cx="504967" cy="464023"/>
          </a:xfrm>
          <a:prstGeom prst="dodecagon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</a:rPr>
              <a:t>BC1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72" name="직선 연결선 71"/>
          <p:cNvCxnSpPr>
            <a:stCxn id="4" idx="4"/>
            <a:endCxn id="64" idx="9"/>
          </p:cNvCxnSpPr>
          <p:nvPr/>
        </p:nvCxnSpPr>
        <p:spPr>
          <a:xfrm>
            <a:off x="3768958" y="2300765"/>
            <a:ext cx="174268" cy="23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십이각형 80"/>
          <p:cNvSpPr/>
          <p:nvPr/>
        </p:nvSpPr>
        <p:spPr>
          <a:xfrm>
            <a:off x="5039352" y="3741561"/>
            <a:ext cx="504967" cy="464023"/>
          </a:xfrm>
          <a:prstGeom prst="dodecagon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</a:rPr>
              <a:t>BC2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84" name="직선 연결선 83"/>
          <p:cNvCxnSpPr>
            <a:stCxn id="81" idx="4"/>
            <a:endCxn id="23" idx="9"/>
          </p:cNvCxnSpPr>
          <p:nvPr/>
        </p:nvCxnSpPr>
        <p:spPr>
          <a:xfrm>
            <a:off x="5359492" y="4205584"/>
            <a:ext cx="327258" cy="2699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십이각형 86"/>
          <p:cNvSpPr/>
          <p:nvPr/>
        </p:nvSpPr>
        <p:spPr>
          <a:xfrm>
            <a:off x="6571426" y="3893689"/>
            <a:ext cx="504967" cy="464023"/>
          </a:xfrm>
          <a:prstGeom prst="dodecagon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 smtClean="0">
                <a:solidFill>
                  <a:schemeClr val="bg1"/>
                </a:solidFill>
              </a:rPr>
              <a:t>BC3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91" name="직선 연결선 90"/>
          <p:cNvCxnSpPr>
            <a:stCxn id="27" idx="6"/>
            <a:endCxn id="87" idx="0"/>
          </p:cNvCxnSpPr>
          <p:nvPr/>
        </p:nvCxnSpPr>
        <p:spPr>
          <a:xfrm flipH="1">
            <a:off x="7008737" y="3636378"/>
            <a:ext cx="341628" cy="319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056448" y="2579234"/>
            <a:ext cx="151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BC1 = 1 AND 2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056152" y="3971811"/>
            <a:ext cx="1866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BC2 = BC1 OR 3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884929" y="4055420"/>
            <a:ext cx="1866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BC3 = 4 OR 5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939354" y="5151080"/>
            <a:ext cx="2086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FINAL = BC2 AND BC3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9998537" y="1408167"/>
            <a:ext cx="151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BC1 = 1 AND 2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990612" y="1835611"/>
            <a:ext cx="1866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BC2 = BC1 OR 3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990612" y="2280410"/>
            <a:ext cx="1866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BC3 = 4 OR 5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998537" y="2755444"/>
            <a:ext cx="2086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FINAL = BC2 AND BC3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88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315</Words>
  <Application>Microsoft Office PowerPoint</Application>
  <PresentationFormat>와이드스크린</PresentationFormat>
  <Paragraphs>143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Look Skyworker</cp:lastModifiedBy>
  <cp:revision>55</cp:revision>
  <dcterms:modified xsi:type="dcterms:W3CDTF">2016-12-31T08:43:02Z</dcterms:modified>
</cp:coreProperties>
</file>